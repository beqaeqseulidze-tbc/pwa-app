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1" d="100"/>
          <a:sy n="81" d="100"/>
        </p:scale>
        <p:origin x="725" y="62"/>
      </p:cViewPr>
      <p:guideLst>
        <p:guide orient="horz" pos="2160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D0028-7869-43F8-809F-BBE62C5EF6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00DD3F-1212-46A0-A53A-2742355E0C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33FAA-F7B4-42D9-9211-126F17257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F53CC-3A6B-4220-A1B0-1361D0D004AC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D13A4-30A5-43AB-87E2-00D9223A2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AEAC3-2302-4C7C-81E4-654A696C8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57E7E-02DC-43F1-B337-ED557F2F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939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CECD5-EC29-4089-9FA4-D1BBD873D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A2C7B-DD82-4748-BF6A-A828FB305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07F5E-BA26-410B-B6D5-F21FE82B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F53CC-3A6B-4220-A1B0-1361D0D004AC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8A973-616F-4AC2-A819-906566357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21F05-F357-4E0E-8DDB-CE030725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57E7E-02DC-43F1-B337-ED557F2F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512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DD724-1675-4FFF-92DE-E4689F39C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E946CD-88A8-4BA6-AF9E-B13EB08F6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C688E-6145-44BB-A3B7-E9DA8CAB3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F53CC-3A6B-4220-A1B0-1361D0D004AC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6FD8E-0E77-4BBE-B99A-ED412ECAF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83FC9-5AEA-49FA-B776-110714BA6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57E7E-02DC-43F1-B337-ED557F2F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056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97F22-F2A2-4398-B1AD-F03A45949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637A4-8580-4AA4-BD0D-460EDC09BE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FA27E9-5166-4F38-9125-5D13D9EC7E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49E40-548E-4320-B006-E79643862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F53CC-3A6B-4220-A1B0-1361D0D004AC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E9FBE5-73A4-4862-853C-24F68330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E7572-02C3-4AC7-A3D1-F28F1A224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57E7E-02DC-43F1-B337-ED557F2F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719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4B713-5727-4816-8161-D29D05793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FBABE-A573-4FA2-86EC-5105F49C6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2A566C-6ECF-4B90-B3AF-84814BD03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EC688B-BD17-4595-BB2E-D801ABCC22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FFD50A-E68F-447C-A39E-41E2CA0AED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4D11BB-3750-48C1-8EBF-0A90E7A5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F53CC-3A6B-4220-A1B0-1361D0D004AC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F0C02B-F9A3-4F19-826C-CC2B2ADDE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DA638E-42CB-4042-A21E-FE30D7F93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57E7E-02DC-43F1-B337-ED557F2F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208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0EC67-0B97-4391-BB75-110C71126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637B06-187F-4F54-AE3D-62C4401C0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F53CC-3A6B-4220-A1B0-1361D0D004AC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76E14C-91A9-4CA7-B7E5-1C107D772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8BCFCE-5E97-4F2B-8F17-3319B2351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57E7E-02DC-43F1-B337-ED557F2F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668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2B24E7-D2D1-4A84-9A27-E911B1979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F53CC-3A6B-4220-A1B0-1361D0D004AC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20E7F3-4FB5-4A66-9B74-BEBCEDE41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5C271-509E-4F6D-BA44-C803E1EE0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57E7E-02DC-43F1-B337-ED557F2F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902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811D6-21C7-476A-B3BE-053E61D4A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FC90F-DE8A-4DAE-B7BC-422B53824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8424C-818B-44A4-BC50-070A75518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0447C8-26D1-4F9D-9A21-994555201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F53CC-3A6B-4220-A1B0-1361D0D004AC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4C8CE-A390-4A2A-9C10-780D21065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5BF89-C9DC-4E4E-81FF-9DFA6AE21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57E7E-02DC-43F1-B337-ED557F2F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060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5BDE5-CFC1-45E3-AAA7-7FB500BC5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E50F93-22CD-40E4-A610-B683411A96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ABB00A-7A3A-4337-BE59-CBB6E4E91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0168A-77E0-4EE9-94AF-970DAF2B3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F53CC-3A6B-4220-A1B0-1361D0D004AC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0E1874-FD26-4434-8CFC-5B49A15C1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E8DFE1-8F96-40D4-8F8B-CE1778EB9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57E7E-02DC-43F1-B337-ED557F2F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238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06414-FF70-46AB-AFAE-655163A85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064920-8A3B-4D22-ABB7-CE88AB88B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C803E-5B8D-46E9-B262-E53A0351A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F53CC-3A6B-4220-A1B0-1361D0D004AC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AD724-571C-4FDC-A20B-91B83E17B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47D55-9702-416C-95B5-A05DC9076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57E7E-02DC-43F1-B337-ED557F2F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061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D62DA2-58CC-46B9-8755-BDC8867AE4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1220BC-34E7-4D1A-9BF1-F877E09A7C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CCAD8-59FC-4DE4-AFEF-06328EC85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F53CC-3A6B-4220-A1B0-1361D0D004AC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B7920-DF09-4A6C-BCB4-DCCA1C832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EAB61-BE34-446E-9B29-DFC521C86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57E7E-02DC-43F1-B337-ED557F2F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078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C3E4F7-2C7F-45E8-A47A-2895BB71F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FD75F-B8F9-4332-9E0E-537FAB8F4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DE104-5C51-4FBE-BFC8-538A89D881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8F53CC-3A6B-4220-A1B0-1361D0D004AC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1B157-8FB8-497E-BE84-13EC99E131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90B1A-A2B2-48B5-B32D-9599419978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957E7E-02DC-43F1-B337-ED557F2F0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55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1CD8B-4F41-43FE-B96B-E8A4262B42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4061" y="462487"/>
            <a:ext cx="9144000" cy="508474"/>
          </a:xfrm>
        </p:spPr>
        <p:txBody>
          <a:bodyPr>
            <a:noAutofit/>
          </a:bodyPr>
          <a:lstStyle/>
          <a:p>
            <a:r>
              <a:rPr lang="en-US" sz="4000" b="1" dirty="0"/>
              <a:t>Progressive Web App (PWA)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1FCE95-EC54-4B94-9560-3B0CBA0BF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215299"/>
            <a:ext cx="12192000" cy="4430598"/>
          </a:xfrm>
        </p:spPr>
        <p:txBody>
          <a:bodyPr/>
          <a:lstStyle/>
          <a:p>
            <a:br>
              <a:rPr lang="en-US" dirty="0"/>
            </a:br>
            <a:r>
              <a:rPr lang="ka-GE" dirty="0"/>
              <a:t>დღეს ვისაუბრებთ </a:t>
            </a:r>
            <a:r>
              <a:rPr lang="en-US" sz="2400" b="1" dirty="0"/>
              <a:t>Progressive Web App  </a:t>
            </a:r>
            <a:r>
              <a:rPr lang="ka-GE" b="1" dirty="0"/>
              <a:t>(</a:t>
            </a:r>
            <a:r>
              <a:rPr lang="en-US" b="1" dirty="0"/>
              <a:t>PWA)</a:t>
            </a:r>
            <a:r>
              <a:rPr lang="en-US" dirty="0"/>
              <a:t> </a:t>
            </a:r>
            <a:r>
              <a:rPr lang="ka-GE" dirty="0"/>
              <a:t>და იმაზე, თუ როგორ შეგვიძლია მათი შექმნა </a:t>
            </a:r>
            <a:r>
              <a:rPr lang="en-US" b="1" dirty="0"/>
              <a:t>Angular</a:t>
            </a:r>
            <a:r>
              <a:rPr lang="en-US" dirty="0"/>
              <a:t>-</a:t>
            </a:r>
            <a:r>
              <a:rPr lang="ka-GE" dirty="0"/>
              <a:t>ის გამოყენებით.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104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403DC-9992-433D-A27A-9E9D1DCED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a-GE" dirty="0"/>
              <a:t>რა არის </a:t>
            </a:r>
            <a:r>
              <a:rPr lang="en-US" dirty="0"/>
              <a:t>PWA?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40FD7-5789-484B-9ACF-AB1D1F7D5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700" dirty="0"/>
              <a:t>PWA </a:t>
            </a:r>
            <a:r>
              <a:rPr lang="ka-GE" sz="1700" dirty="0"/>
              <a:t>არის ვებ აპლიკაცია, რომელიც იყენებს თანამედროვე ვებ შესაძლებლობებს იმისთვის, რომ მომხმარებლისთვის უზრუნველყოს გამოცდილება, რომელიც </a:t>
            </a:r>
            <a:r>
              <a:rPr lang="en-US" sz="1700" dirty="0"/>
              <a:t>native  </a:t>
            </a:r>
            <a:r>
              <a:rPr lang="ka-GE" sz="1700" dirty="0"/>
              <a:t>აპლიკაციას ჰგავს. ეს ნიშნავს, რომ </a:t>
            </a:r>
            <a:r>
              <a:rPr lang="en-US" sz="1700" dirty="0"/>
              <a:t>PWA-</a:t>
            </a:r>
            <a:r>
              <a:rPr lang="ka-GE" sz="1700" dirty="0"/>
              <a:t>ს შეუძლია: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a-GE" sz="1700" b="1" dirty="0"/>
              <a:t>დაინსტალირდეს მომხმარებლის მოწყობილობაზე:</a:t>
            </a:r>
            <a:r>
              <a:rPr lang="ka-GE" sz="1700" dirty="0"/>
              <a:t> ისევე როგორც ჩვეულებრივი აპლიკაცია, </a:t>
            </a:r>
            <a:r>
              <a:rPr lang="en-US" sz="1700" dirty="0"/>
              <a:t>PWA-</a:t>
            </a:r>
            <a:r>
              <a:rPr lang="ka-GE" sz="1700" dirty="0"/>
              <a:t>საც აქვს</a:t>
            </a:r>
            <a:r>
              <a:rPr lang="en-US" sz="1700" dirty="0"/>
              <a:t> </a:t>
            </a:r>
            <a:r>
              <a:rPr lang="ka-GE" sz="1700" dirty="0"/>
              <a:t>თავის  </a:t>
            </a:r>
            <a:r>
              <a:rPr lang="en-US" sz="1700" dirty="0"/>
              <a:t>Icon </a:t>
            </a:r>
            <a:r>
              <a:rPr lang="ka-GE" sz="1700" dirty="0"/>
              <a:t>მთავარ ეკრანზე.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a-GE" sz="1700" b="1" dirty="0"/>
              <a:t>იმუშაოს </a:t>
            </a:r>
            <a:r>
              <a:rPr lang="en-US" sz="1700" b="1" dirty="0"/>
              <a:t>offline </a:t>
            </a:r>
            <a:r>
              <a:rPr lang="ka-GE" sz="1700" b="1" dirty="0"/>
              <a:t> რეჟიმში:</a:t>
            </a:r>
            <a:r>
              <a:rPr lang="ka-GE" sz="1700" dirty="0"/>
              <a:t> ინტერნეტის გარეშეც შესაძლებელია მისი ძირითადი </a:t>
            </a:r>
            <a:r>
              <a:rPr lang="ka-GE" sz="1700" dirty="0" err="1"/>
              <a:t>ფუნქციონალის</a:t>
            </a:r>
            <a:r>
              <a:rPr lang="ka-GE" sz="1700" dirty="0"/>
              <a:t> გამოყენება.</a:t>
            </a:r>
          </a:p>
          <a:p>
            <a:pPr marL="0" indent="0">
              <a:buNone/>
            </a:pPr>
            <a:r>
              <a:rPr lang="en-US" sz="1700" b="1" dirty="0"/>
              <a:t> </a:t>
            </a:r>
            <a:r>
              <a:rPr lang="ka-GE" sz="1700" b="1" dirty="0"/>
              <a:t> გამოიწეროს და მიიღოს  </a:t>
            </a:r>
            <a:r>
              <a:rPr lang="en-US" sz="1700" b="1" dirty="0"/>
              <a:t>Push notification</a:t>
            </a:r>
            <a:r>
              <a:rPr lang="ka-GE" sz="1700" b="1" dirty="0"/>
              <a:t>:</a:t>
            </a:r>
            <a:r>
              <a:rPr lang="ka-GE" sz="1700" dirty="0"/>
              <a:t> აცნობოს მომხმარებელს მნიშვნელოვანი მოვლენების შესახებ.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a-GE" sz="1700" b="1" dirty="0"/>
              <a:t>იყოს სწრაფი და საიმედო:</a:t>
            </a:r>
            <a:r>
              <a:rPr lang="ka-GE" sz="1700" dirty="0"/>
              <a:t> ჩაიტვირთოს მომენტალურად და იმუშაოს შეუფერხებლად</a:t>
            </a:r>
            <a:r>
              <a:rPr lang="ka-GE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538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403DC-9992-433D-A27A-9E9D1DCED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a-GE" dirty="0"/>
              <a:t>რატომ გვჭირდება </a:t>
            </a:r>
            <a:r>
              <a:rPr lang="en-US" dirty="0"/>
              <a:t>PWA?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40FD7-5789-484B-9ACF-AB1D1F7D5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a-GE" sz="1700" b="1" dirty="0"/>
              <a:t>გაუმჯობესებული მომხმარებლის გამოცდილება</a:t>
            </a:r>
            <a:r>
              <a:rPr lang="ka-GE" sz="1200" b="1" dirty="0"/>
              <a:t>:</a:t>
            </a:r>
            <a:r>
              <a:rPr lang="ka-GE" sz="1200" dirty="0"/>
              <a:t> </a:t>
            </a:r>
            <a:r>
              <a:rPr lang="ka-GE" sz="1700" dirty="0"/>
              <a:t>უფრო სწრაფი, საიმედო და ინტუიციური</a:t>
            </a:r>
            <a:r>
              <a:rPr lang="ka-GE" sz="1200" dirty="0"/>
              <a:t>. </a:t>
            </a:r>
          </a:p>
          <a:p>
            <a:r>
              <a:rPr lang="ka-GE" sz="1700" b="1" dirty="0"/>
              <a:t>გაზრდილი ჩართულობა:</a:t>
            </a:r>
            <a:r>
              <a:rPr lang="ka-GE" sz="1700" dirty="0"/>
              <a:t> </a:t>
            </a:r>
            <a:r>
              <a:rPr lang="en-US" sz="1700" dirty="0"/>
              <a:t>Push </a:t>
            </a:r>
            <a:r>
              <a:rPr lang="ka-GE" sz="1700" dirty="0"/>
              <a:t>შეტყობინებები ხელს უწყობს მომხმარებლების დაბრუნებას</a:t>
            </a:r>
            <a:r>
              <a:rPr lang="ka-GE" sz="1200" dirty="0"/>
              <a:t>.</a:t>
            </a:r>
            <a:r>
              <a:rPr lang="ka-GE" sz="17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a-GE" sz="1700" b="1" dirty="0"/>
              <a:t>დაბალი დანახარჯები:</a:t>
            </a:r>
            <a:r>
              <a:rPr lang="ka-GE" sz="1700" dirty="0"/>
              <a:t> არ არის საჭირო ცალკეული </a:t>
            </a:r>
            <a:r>
              <a:rPr lang="en-US" sz="1700" dirty="0"/>
              <a:t>native</a:t>
            </a:r>
            <a:r>
              <a:rPr lang="ka-GE" sz="1700" dirty="0"/>
              <a:t> აპლიკაციების შემუშავება </a:t>
            </a:r>
            <a:r>
              <a:rPr lang="en-US" sz="1700" dirty="0"/>
              <a:t>iOS-</a:t>
            </a:r>
            <a:r>
              <a:rPr lang="ka-GE" sz="1700" dirty="0"/>
              <a:t>ისა და </a:t>
            </a:r>
            <a:r>
              <a:rPr lang="en-US" sz="1700" dirty="0"/>
              <a:t>Android-</a:t>
            </a:r>
            <a:r>
              <a:rPr lang="ka-GE" sz="1700" dirty="0"/>
              <a:t>ისთვის</a:t>
            </a:r>
            <a:r>
              <a:rPr lang="ka-GE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a-GE" sz="1700" b="1" dirty="0"/>
              <a:t>მარტივი გავრცელება:</a:t>
            </a:r>
            <a:r>
              <a:rPr lang="ka-GE" sz="1700" dirty="0"/>
              <a:t> არ საჭიროებს </a:t>
            </a:r>
            <a:r>
              <a:rPr lang="en-US" sz="1700" dirty="0"/>
              <a:t>App Store-</a:t>
            </a:r>
            <a:r>
              <a:rPr lang="ka-GE" sz="1700" dirty="0"/>
              <a:t>სა და </a:t>
            </a:r>
            <a:r>
              <a:rPr lang="en-US" sz="1700" dirty="0"/>
              <a:t>Google Play Store-</a:t>
            </a:r>
            <a:r>
              <a:rPr lang="ka-GE" sz="1700" dirty="0"/>
              <a:t>ს</a:t>
            </a:r>
            <a:r>
              <a:rPr lang="ka-GE" sz="1200" dirty="0"/>
              <a:t>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408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403DC-9992-433D-A27A-9E9D1DCED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PWA-</a:t>
            </a:r>
            <a:r>
              <a:rPr lang="ka-GE" dirty="0"/>
              <a:t>ის ძირითადი მახასიათებლები: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40FD7-5789-484B-9ACF-AB1D1F7D5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8862"/>
            <a:ext cx="10515600" cy="467810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ka-GE" sz="1800" b="1" dirty="0"/>
              <a:t>1) </a:t>
            </a:r>
            <a:r>
              <a:rPr lang="en-US" sz="1800" b="1" dirty="0">
                <a:latin typeface="Arial" panose="020B0604020202020204" pitchFamily="34" charset="0"/>
              </a:rPr>
              <a:t>Service Worker: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a-GE" sz="1800" dirty="0"/>
              <a:t>ეს არის </a:t>
            </a:r>
            <a:r>
              <a:rPr lang="en-US" sz="1800" dirty="0">
                <a:latin typeface="Arial" panose="020B0604020202020204" pitchFamily="34" charset="0"/>
              </a:rPr>
              <a:t>JavaScript </a:t>
            </a:r>
            <a:r>
              <a:rPr lang="ka-GE" sz="1800" dirty="0"/>
              <a:t>ფაილი, რომელიც მუშაობს ბრაუზერის ფონზე, ვებ გვერდისგან დამოუკიდებლად.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a-GE" sz="1800" dirty="0"/>
              <a:t>მისი მთავარი ფუნქციაა ქსელური მოთხოვნების გადაჭრა და </a:t>
            </a:r>
            <a:r>
              <a:rPr lang="ka-GE" sz="1800" dirty="0" err="1"/>
              <a:t>ქეშირება</a:t>
            </a:r>
            <a:r>
              <a:rPr lang="ka-GE" sz="1800" dirty="0"/>
              <a:t>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a-GE" sz="1800" dirty="0"/>
              <a:t>სწორედ </a:t>
            </a:r>
            <a:r>
              <a:rPr lang="en-US" sz="1800" dirty="0">
                <a:latin typeface="Arial" panose="020B0604020202020204" pitchFamily="34" charset="0"/>
              </a:rPr>
              <a:t>Service Worker </a:t>
            </a:r>
            <a:r>
              <a:rPr lang="ka-GE" sz="1800" dirty="0"/>
              <a:t>უზრუნველყოფს </a:t>
            </a:r>
            <a:r>
              <a:rPr lang="en-US" sz="1800" dirty="0">
                <a:latin typeface="Arial" panose="020B0604020202020204" pitchFamily="34" charset="0"/>
              </a:rPr>
              <a:t>PWA-</a:t>
            </a:r>
            <a:r>
              <a:rPr lang="ka-GE" sz="1800" dirty="0"/>
              <a:t>ის </a:t>
            </a:r>
            <a:r>
              <a:rPr lang="en-US" sz="1800" dirty="0">
                <a:latin typeface="Arial" panose="020B0604020202020204" pitchFamily="34" charset="0"/>
              </a:rPr>
              <a:t>offline </a:t>
            </a:r>
            <a:r>
              <a:rPr lang="ka-GE" sz="1800" dirty="0"/>
              <a:t> </a:t>
            </a:r>
            <a:r>
              <a:rPr lang="ka-GE" sz="1800" dirty="0" err="1"/>
              <a:t>ფუნქციონალს</a:t>
            </a:r>
            <a:r>
              <a:rPr lang="ka-GE" sz="1800" dirty="0"/>
              <a:t> და სწრაფ ჩატვირთვას.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ka-GE" sz="1800" dirty="0"/>
              <a:t>მაგალითი: წარმოიდგინეთ, რომ თქვენი აპლიკაცია ითხოვს სურათებს სერვერიდან. </a:t>
            </a:r>
            <a:r>
              <a:rPr lang="en-US" sz="1800" dirty="0">
                <a:latin typeface="Arial" panose="020B0604020202020204" pitchFamily="34" charset="0"/>
              </a:rPr>
              <a:t>Service Worker-</a:t>
            </a:r>
            <a:r>
              <a:rPr lang="ka-GE" sz="1800" dirty="0"/>
              <a:t>ს შეუძლია ამ სურათების </a:t>
            </a:r>
            <a:r>
              <a:rPr lang="ka-GE" sz="1800" dirty="0" err="1"/>
              <a:t>ქეშირება</a:t>
            </a:r>
            <a:r>
              <a:rPr lang="ka-GE" sz="1800" dirty="0"/>
              <a:t>, ასე რომ შემდეგ ჯერზე, როცა მომხმარებელი მოითხოვს იგივე სურათებს, ის პირდაპირ ქეშიდან ჩაიტვირთება და არა სერვერიდან.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2) Web App Manifest: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ეს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არის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JSON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ფაილი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რომელიც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აღწერს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თქვენს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PWA-ს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ბრაუზერისთვის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ის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შეიცავს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ისეთ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ინფორმაციას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როგორიცაა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აპლიკაციის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სახელი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ხატულები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დაწყების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URL,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დისპლეის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რეჟიმი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მაგ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fullscreen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standalone)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და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თემის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ფერი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სწორედ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ამ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ფაილის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წყალობით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შეუძლია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ბრაუზერს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PWA-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ის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ინსტალაციის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შეთავაზება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ka-GE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ka-GE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ka-GE" sz="1800" b="1" dirty="0"/>
              <a:t>3) </a:t>
            </a:r>
            <a:r>
              <a:rPr lang="en-US" sz="1800" b="1" dirty="0">
                <a:latin typeface="Arial" panose="020B0604020202020204" pitchFamily="34" charset="0"/>
              </a:rPr>
              <a:t>HTTPS: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a-GE" sz="1800" dirty="0"/>
              <a:t> უსაფრთხოების მიზნით, </a:t>
            </a:r>
            <a:r>
              <a:rPr lang="en-US" sz="1800" dirty="0">
                <a:latin typeface="Arial" panose="020B0604020202020204" pitchFamily="34" charset="0"/>
              </a:rPr>
              <a:t>PWA </a:t>
            </a:r>
            <a:r>
              <a:rPr lang="ka-GE" sz="1800" dirty="0"/>
              <a:t>აუცილებლად უნდა მუშაობდეს </a:t>
            </a:r>
            <a:r>
              <a:rPr lang="en-US" sz="1800" dirty="0">
                <a:latin typeface="Arial" panose="020B0604020202020204" pitchFamily="34" charset="0"/>
              </a:rPr>
              <a:t>HTTPS </a:t>
            </a:r>
            <a:r>
              <a:rPr lang="ka-GE" sz="1800" dirty="0"/>
              <a:t>პროტოკოლზე. </a:t>
            </a:r>
            <a:r>
              <a:rPr lang="en-US" sz="1800" dirty="0">
                <a:latin typeface="Arial" panose="020B0604020202020204" pitchFamily="34" charset="0"/>
              </a:rPr>
              <a:t>Service Worker-</a:t>
            </a:r>
            <a:r>
              <a:rPr lang="ka-GE" sz="1800" dirty="0"/>
              <a:t>ები შეზღუდულია მხოლოდ </a:t>
            </a:r>
            <a:r>
              <a:rPr lang="en-US" sz="1800" dirty="0">
                <a:latin typeface="Arial" panose="020B0604020202020204" pitchFamily="34" charset="0"/>
              </a:rPr>
              <a:t>HTTPS-</a:t>
            </a:r>
            <a:r>
              <a:rPr lang="ka-GE" sz="1800" dirty="0"/>
              <a:t>ზე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br>
              <a:rPr lang="en-US" altLang="en-US" sz="1800" dirty="0">
                <a:latin typeface="Arial" panose="020B0604020202020204" pitchFamily="34" charset="0"/>
              </a:rPr>
            </a:br>
            <a:r>
              <a:rPr lang="ka-GE" altLang="en-US" sz="1800" dirty="0">
                <a:latin typeface="Arial" panose="020B0604020202020204" pitchFamily="34" charset="0"/>
              </a:rPr>
              <a:t>ამ თემებს ქვემოთ მაგალითების გამოყენებით დეტალურად განვიხილავთ.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ka-GE" sz="1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381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403DC-9992-433D-A27A-9E9D1DCED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Angular-</a:t>
            </a:r>
            <a:r>
              <a:rPr lang="ka-GE" dirty="0"/>
              <a:t>ისა და </a:t>
            </a:r>
            <a:r>
              <a:rPr lang="en-US" dirty="0"/>
              <a:t>PWA-</a:t>
            </a:r>
            <a:r>
              <a:rPr lang="ka-GE" dirty="0"/>
              <a:t>ის ერთობლიობა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40FD7-5789-484B-9ACF-AB1D1F7D5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8862"/>
            <a:ext cx="10515600" cy="46781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a-GE" sz="1800" b="1" dirty="0"/>
              <a:t> </a:t>
            </a:r>
            <a:r>
              <a:rPr lang="en-US" sz="1800" b="1" dirty="0"/>
              <a:t>Angular CLI </a:t>
            </a:r>
            <a:r>
              <a:rPr lang="ka-GE" sz="1800" dirty="0"/>
              <a:t>მნიშვნელოვნად ამარტივებს </a:t>
            </a:r>
            <a:r>
              <a:rPr lang="en-US" sz="1800" b="1" dirty="0"/>
              <a:t>PWA-</a:t>
            </a:r>
            <a:r>
              <a:rPr lang="ka-GE" sz="1800" dirty="0"/>
              <a:t>ის შექმნის პროცესს. სულ რამდენიმე ბრძანებით   შეგვიძლია არსებული </a:t>
            </a:r>
            <a:r>
              <a:rPr lang="en-US" sz="1800" b="1" dirty="0"/>
              <a:t>Angular</a:t>
            </a:r>
            <a:r>
              <a:rPr lang="en-US" sz="1800" dirty="0"/>
              <a:t> </a:t>
            </a:r>
            <a:r>
              <a:rPr lang="ka-GE" sz="1800" dirty="0"/>
              <a:t>აპლიკაცია </a:t>
            </a:r>
            <a:r>
              <a:rPr lang="en-US" sz="1800" b="1" dirty="0"/>
              <a:t>PWA-</a:t>
            </a:r>
            <a:r>
              <a:rPr lang="ka-GE" sz="1800" dirty="0"/>
              <a:t>ად ვაქციოთ.</a:t>
            </a:r>
          </a:p>
          <a:p>
            <a:pPr>
              <a:buFont typeface="Arial" panose="020B0604020202020204" pitchFamily="34" charset="0"/>
              <a:buChar char="•"/>
            </a:pPr>
            <a:endParaRPr lang="ka-GE" sz="1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042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403DC-9992-433D-A27A-9E9D1DCED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a-GE" sz="3600" dirty="0"/>
              <a:t>გადავაქციოთ </a:t>
            </a:r>
            <a:r>
              <a:rPr lang="en-US" sz="3600" dirty="0"/>
              <a:t>Angular </a:t>
            </a:r>
            <a:r>
              <a:rPr lang="ka-GE" sz="3600" dirty="0"/>
              <a:t>აპლიკაცია </a:t>
            </a:r>
            <a:r>
              <a:rPr lang="en-US" sz="3600" dirty="0"/>
              <a:t>PWA-</a:t>
            </a:r>
            <a:r>
              <a:rPr lang="ka-GE" sz="3600" dirty="0"/>
              <a:t>ად: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40FD7-5789-484B-9ACF-AB1D1F7D5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8862"/>
            <a:ext cx="10515600" cy="46781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a-GE" sz="1700" dirty="0"/>
              <a:t>ნაბიჯი 1: დაამატეთ </a:t>
            </a:r>
            <a:r>
              <a:rPr lang="en-US" sz="1700" dirty="0"/>
              <a:t>Angular PWA </a:t>
            </a:r>
            <a:r>
              <a:rPr lang="ka-GE" sz="1700" dirty="0" err="1"/>
              <a:t>ფუნქციონალი</a:t>
            </a:r>
            <a:r>
              <a:rPr lang="ka-GE" sz="1700" dirty="0"/>
              <a:t>:</a:t>
            </a:r>
            <a:endParaRPr lang="en-US" sz="1700" dirty="0"/>
          </a:p>
          <a:p>
            <a:pPr marL="0" indent="0">
              <a:buNone/>
            </a:pPr>
            <a:br>
              <a:rPr lang="ka-GE" sz="1700" dirty="0"/>
            </a:br>
            <a:r>
              <a:rPr lang="ka-GE" sz="1700" dirty="0"/>
              <a:t>     </a:t>
            </a:r>
            <a:r>
              <a:rPr lang="en-US" sz="1700" dirty="0"/>
              <a:t>Angular CLI-</a:t>
            </a:r>
            <a:r>
              <a:rPr lang="ka-GE" sz="1700" dirty="0"/>
              <a:t>ს გამოყენებით : </a:t>
            </a:r>
            <a:r>
              <a:rPr lang="en-US" sz="1700" b="1" dirty="0"/>
              <a:t>ng add @angular/pwa --project my-</a:t>
            </a:r>
            <a:r>
              <a:rPr lang="en-US" sz="1700" b="1" dirty="0" err="1"/>
              <a:t>pwa</a:t>
            </a:r>
            <a:r>
              <a:rPr lang="en-US" sz="1700" b="1" dirty="0"/>
              <a:t>-app</a:t>
            </a:r>
            <a:r>
              <a:rPr lang="ka-GE" sz="1700" b="1" dirty="0"/>
              <a:t> </a:t>
            </a:r>
            <a:endParaRPr lang="en-US" sz="1700" b="1" dirty="0"/>
          </a:p>
          <a:p>
            <a:pPr marL="0" indent="0">
              <a:buNone/>
            </a:pPr>
            <a:br>
              <a:rPr lang="en-US" sz="1700" dirty="0"/>
            </a:br>
            <a:r>
              <a:rPr lang="ka-GE" sz="1700" dirty="0"/>
              <a:t>ამ ბრძანების შესრულების შემდეგ, </a:t>
            </a:r>
            <a:r>
              <a:rPr lang="en-US" sz="1700" dirty="0"/>
              <a:t>Angular CLI </a:t>
            </a:r>
            <a:r>
              <a:rPr lang="ka-GE" sz="1700" dirty="0"/>
              <a:t>ავტომატურად შეასრულებს შემდეგ ცვლილებებს თქვენს პროექტში:</a:t>
            </a:r>
            <a:endParaRPr lang="en-US" sz="1700" dirty="0"/>
          </a:p>
          <a:p>
            <a:pPr marL="0" indent="0">
              <a:buNone/>
            </a:pPr>
            <a:r>
              <a:rPr lang="ka-GE" sz="1700" b="1" dirty="0"/>
              <a:t>@</a:t>
            </a:r>
            <a:r>
              <a:rPr lang="en-US" sz="1700" b="1" dirty="0"/>
              <a:t>angular/service-worker </a:t>
            </a:r>
            <a:r>
              <a:rPr lang="ka-GE" sz="1700" dirty="0"/>
              <a:t>პაკეტის დაყენება: ეს პაკეტი შეიცავს </a:t>
            </a:r>
            <a:r>
              <a:rPr lang="en-US" sz="1700" dirty="0"/>
              <a:t>Angular-</a:t>
            </a:r>
            <a:r>
              <a:rPr lang="ka-GE" sz="1700" dirty="0"/>
              <a:t>ის </a:t>
            </a:r>
            <a:r>
              <a:rPr lang="en-US" sz="1700" dirty="0"/>
              <a:t>Service Worker-</a:t>
            </a:r>
            <a:r>
              <a:rPr lang="ka-GE" sz="1700" dirty="0"/>
              <a:t>ის იმპლემენტაციას.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 err="1"/>
              <a:t>src</a:t>
            </a:r>
            <a:r>
              <a:rPr lang="en-US" sz="1700" b="1" dirty="0"/>
              <a:t>/</a:t>
            </a:r>
            <a:r>
              <a:rPr lang="en-US" sz="1700" b="1" dirty="0" err="1"/>
              <a:t>manifest.webmanifest</a:t>
            </a:r>
            <a:r>
              <a:rPr lang="en-US" sz="1700" b="1" dirty="0"/>
              <a:t> </a:t>
            </a:r>
            <a:r>
              <a:rPr lang="ka-GE" sz="1700" dirty="0"/>
              <a:t>ფაილის შექმნა: ეს არის თქვენი </a:t>
            </a:r>
            <a:r>
              <a:rPr lang="en-US" sz="1700" dirty="0"/>
              <a:t>Web App Manifest </a:t>
            </a:r>
            <a:r>
              <a:rPr lang="ka-GE" sz="1700" dirty="0"/>
              <a:t>ფაილი.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 err="1"/>
              <a:t>src</a:t>
            </a:r>
            <a:r>
              <a:rPr lang="en-US" sz="1700" b="1" dirty="0"/>
              <a:t>/</a:t>
            </a:r>
            <a:r>
              <a:rPr lang="en-US" sz="1700" b="1" dirty="0" err="1"/>
              <a:t>ngsw-config.json</a:t>
            </a:r>
            <a:r>
              <a:rPr lang="en-US" sz="1700" b="1" dirty="0"/>
              <a:t> </a:t>
            </a:r>
            <a:r>
              <a:rPr lang="ka-GE" sz="1700" dirty="0"/>
              <a:t>ფაილის შექმნა: ეს ფაილი </a:t>
            </a:r>
            <a:r>
              <a:rPr lang="ka-GE" sz="1700" dirty="0" err="1"/>
              <a:t>აკონფიგურირებს</a:t>
            </a:r>
            <a:r>
              <a:rPr lang="ka-GE" sz="1700" dirty="0"/>
              <a:t> </a:t>
            </a:r>
            <a:r>
              <a:rPr lang="en-US" sz="1700" dirty="0"/>
              <a:t>Angular-</a:t>
            </a:r>
            <a:r>
              <a:rPr lang="ka-GE" sz="1700" dirty="0"/>
              <a:t>ის </a:t>
            </a:r>
            <a:r>
              <a:rPr lang="en-US" sz="1700" dirty="0"/>
              <a:t>Service Worker-</a:t>
            </a:r>
            <a:r>
              <a:rPr lang="ka-GE" sz="1700" dirty="0"/>
              <a:t>ს, თუ რომელი რესურსები უნდა იქნას </a:t>
            </a:r>
            <a:r>
              <a:rPr lang="ka-GE" sz="1700" dirty="0" err="1"/>
              <a:t>ქეშირებული</a:t>
            </a:r>
            <a:r>
              <a:rPr lang="ka-GE" sz="1700" dirty="0"/>
              <a:t> და როგორ.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/>
              <a:t>index.html-</a:t>
            </a:r>
            <a:r>
              <a:rPr lang="ka-GE" sz="1700" dirty="0"/>
              <a:t>ის განახლება: დაემატება ბმულები </a:t>
            </a:r>
            <a:r>
              <a:rPr lang="en-US" sz="1700" dirty="0" err="1"/>
              <a:t>manifest.webmanifest</a:t>
            </a:r>
            <a:r>
              <a:rPr lang="en-US" sz="1700" dirty="0"/>
              <a:t>-</a:t>
            </a:r>
            <a:r>
              <a:rPr lang="ka-GE" sz="1700" dirty="0"/>
              <a:t>ზე და </a:t>
            </a:r>
            <a:r>
              <a:rPr lang="en-US" sz="1700" dirty="0"/>
              <a:t>Service Worker-</a:t>
            </a:r>
            <a:r>
              <a:rPr lang="ka-GE" sz="1700" dirty="0"/>
              <a:t>ის რეგისტრაცია.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 err="1"/>
              <a:t>angular.json</a:t>
            </a:r>
            <a:r>
              <a:rPr lang="en-US" sz="1700" b="1" dirty="0"/>
              <a:t>-</a:t>
            </a:r>
            <a:r>
              <a:rPr lang="ka-GE" sz="1700" dirty="0"/>
              <a:t>ის განახლება: </a:t>
            </a:r>
            <a:r>
              <a:rPr lang="en-US" sz="1700" dirty="0" err="1"/>
              <a:t>serviceWorker</a:t>
            </a:r>
            <a:r>
              <a:rPr lang="en-US" sz="1700" dirty="0"/>
              <a:t>: true </a:t>
            </a:r>
            <a:r>
              <a:rPr lang="ka-GE" sz="1700" dirty="0"/>
              <a:t>დაემატება </a:t>
            </a:r>
            <a:r>
              <a:rPr lang="en-US" sz="1700" dirty="0"/>
              <a:t>build </a:t>
            </a:r>
            <a:r>
              <a:rPr lang="ka-GE" sz="1700" dirty="0" err="1"/>
              <a:t>ოფციებში</a:t>
            </a:r>
            <a:r>
              <a:rPr lang="ka-GE" sz="1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ka-GE" sz="1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684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403DC-9992-433D-A27A-9E9D1DCED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5580"/>
          </a:xfrm>
        </p:spPr>
        <p:txBody>
          <a:bodyPr>
            <a:normAutofit fontScale="9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ngsw-config.json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ფაილი</a:t>
            </a:r>
            <a:r>
              <a:rPr lang="en-US" altLang="en-US" sz="2800" dirty="0"/>
              <a:t>:</a:t>
            </a:r>
            <a:endParaRPr kumimoji="0" lang="en-US" altLang="en-US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40FD7-5789-484B-9ACF-AB1D1F7D5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1724" y="961534"/>
            <a:ext cx="7202865" cy="579748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ka-GE" sz="1800" dirty="0"/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1AE1E1-AB66-456E-8015-C1F6D98BBD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0388"/>
            <a:ext cx="4722548" cy="5927612"/>
          </a:xfrm>
          <a:prstGeom prst="rect">
            <a:avLst/>
          </a:prstGeom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FEF68C5F-D5C5-45D1-A117-72DE9B3C6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1069" y="1012267"/>
            <a:ext cx="7220931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assetGroups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განსაზღვრავს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სტატიკური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რესურსების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ქეშირებას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(CSS, JS,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სურათები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installMode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prefetch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რესურსები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ქეშირდება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Service Worker-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ის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ინსტალაციის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დროს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lazy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რესურსები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ქეშირდება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მოთხოვნისას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updateMode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prefetch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განახლებები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ქეშირდება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მომდევნო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ვიზიტისას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dataGroups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განსაზღვრავს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მონაცემთა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(API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მოთხოვნების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ქეშირებას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urls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URL-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ების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მასივი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რომელთა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ქეშირებაც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გვინდა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cacheConfig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maxSize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ქეშის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მაქსიმალური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ზომა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maxAge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lang="en-US" altLang="en-US" sz="1400" dirty="0" err="1"/>
              <a:t>ქეშის</a:t>
            </a:r>
            <a:r>
              <a:rPr lang="en-US" altLang="en-US" sz="1400" dirty="0"/>
              <a:t> </a:t>
            </a:r>
            <a:r>
              <a:rPr lang="en-US" altLang="en-US" sz="1400" dirty="0" err="1"/>
              <a:t>მაქსიმალური</a:t>
            </a:r>
            <a:r>
              <a:rPr lang="en-US" altLang="en-US" sz="1400" dirty="0"/>
              <a:t> </a:t>
            </a:r>
            <a:r>
              <a:rPr lang="en-US" altLang="en-US" sz="1400" dirty="0" err="1"/>
              <a:t>ხანგრძლივობა</a:t>
            </a:r>
            <a:r>
              <a:rPr lang="en-US" altLang="en-US" sz="1400" dirty="0"/>
              <a:t>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strategy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freshness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lang="en-US" altLang="en-US" sz="1400" dirty="0" err="1"/>
              <a:t>ყოველთვის</a:t>
            </a:r>
            <a:r>
              <a:rPr lang="en-US" altLang="en-US" sz="1400" dirty="0"/>
              <a:t> </a:t>
            </a:r>
            <a:r>
              <a:rPr lang="en-US" altLang="en-US" sz="1400" dirty="0" err="1"/>
              <a:t>ცდილობს</a:t>
            </a:r>
            <a:r>
              <a:rPr lang="en-US" altLang="en-US" sz="1400" dirty="0"/>
              <a:t> </a:t>
            </a:r>
            <a:r>
              <a:rPr lang="en-US" altLang="en-US" sz="1400" dirty="0" err="1"/>
              <a:t>ახალი</a:t>
            </a:r>
            <a:r>
              <a:rPr lang="en-US" altLang="en-US" sz="1400" dirty="0"/>
              <a:t> </a:t>
            </a:r>
            <a:r>
              <a:rPr lang="en-US" altLang="en-US" sz="1400" dirty="0" err="1"/>
              <a:t>მონაცემების</a:t>
            </a:r>
            <a:r>
              <a:rPr lang="en-US" altLang="en-US" sz="1400" dirty="0"/>
              <a:t> </a:t>
            </a:r>
            <a:r>
              <a:rPr lang="en-US" altLang="en-US" sz="1400" dirty="0" err="1"/>
              <a:t>მოძიებას</a:t>
            </a:r>
            <a:r>
              <a:rPr lang="en-US" altLang="en-US" sz="1400" dirty="0"/>
              <a:t> </a:t>
            </a:r>
            <a:r>
              <a:rPr lang="en-US" altLang="en-US" sz="1400" dirty="0" err="1"/>
              <a:t>ქსელიდან</a:t>
            </a:r>
            <a:r>
              <a:rPr lang="en-US" altLang="en-US" sz="1400" dirty="0"/>
              <a:t>, </a:t>
            </a:r>
            <a:r>
              <a:rPr lang="en-US" altLang="en-US" sz="1400" dirty="0" err="1"/>
              <a:t>თუ</a:t>
            </a:r>
            <a:r>
              <a:rPr lang="en-US" altLang="en-US" sz="1400" dirty="0"/>
              <a:t> </a:t>
            </a:r>
            <a:r>
              <a:rPr lang="en-US" altLang="en-US" sz="1400" dirty="0" err="1"/>
              <a:t>მიუწვდომელია</a:t>
            </a:r>
            <a:r>
              <a:rPr lang="en-US" altLang="en-US" sz="1400" dirty="0"/>
              <a:t>, </a:t>
            </a:r>
            <a:r>
              <a:rPr lang="en-US" altLang="en-US" sz="1400" dirty="0" err="1"/>
              <a:t>იყენებს</a:t>
            </a:r>
            <a:r>
              <a:rPr lang="en-US" altLang="en-US" sz="1400" dirty="0"/>
              <a:t> </a:t>
            </a:r>
            <a:r>
              <a:rPr lang="en-US" altLang="en-US" sz="1400" dirty="0" err="1"/>
              <a:t>ქეშირებულს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performance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lang="en-US" altLang="en-US" sz="1400" dirty="0" err="1"/>
              <a:t>უპირატესობას</a:t>
            </a:r>
            <a:r>
              <a:rPr lang="en-US" altLang="en-US" sz="1400" dirty="0"/>
              <a:t> </a:t>
            </a:r>
            <a:r>
              <a:rPr lang="en-US" altLang="en-US" sz="1400" dirty="0" err="1"/>
              <a:t>ანიჭებს</a:t>
            </a:r>
            <a:r>
              <a:rPr lang="en-US" altLang="en-US" sz="1400" dirty="0"/>
              <a:t> </a:t>
            </a:r>
            <a:r>
              <a:rPr lang="en-US" altLang="en-US" sz="1400" dirty="0" err="1"/>
              <a:t>ქეშირებულ</a:t>
            </a:r>
            <a:r>
              <a:rPr lang="en-US" altLang="en-US" sz="1400" dirty="0"/>
              <a:t> </a:t>
            </a:r>
            <a:r>
              <a:rPr lang="en-US" altLang="en-US" sz="1400" dirty="0" err="1"/>
              <a:t>მონაცემებს</a:t>
            </a:r>
            <a:r>
              <a:rPr lang="en-US" altLang="en-US" sz="1400" dirty="0"/>
              <a:t> </a:t>
            </a:r>
            <a:r>
              <a:rPr lang="en-US" altLang="en-US" sz="1400" dirty="0" err="1"/>
              <a:t>და</a:t>
            </a:r>
            <a:r>
              <a:rPr lang="en-US" altLang="en-US" sz="1400" dirty="0"/>
              <a:t> </a:t>
            </a:r>
            <a:r>
              <a:rPr lang="en-US" altLang="en-US" sz="1400" dirty="0" err="1"/>
              <a:t>პარალელურად</a:t>
            </a:r>
            <a:r>
              <a:rPr lang="en-US" altLang="en-US" sz="1400" dirty="0"/>
              <a:t> </a:t>
            </a:r>
            <a:r>
              <a:rPr lang="en-US" altLang="en-US" sz="1400" dirty="0" err="1"/>
              <a:t>ამოწმებს</a:t>
            </a:r>
            <a:r>
              <a:rPr lang="en-US" altLang="en-US" sz="1400" dirty="0"/>
              <a:t> </a:t>
            </a:r>
            <a:r>
              <a:rPr lang="en-US" altLang="en-US" sz="1400" dirty="0" err="1"/>
              <a:t>ქსელში</a:t>
            </a:r>
            <a:r>
              <a:rPr lang="en-US" altLang="en-US" sz="1400" dirty="0"/>
              <a:t> </a:t>
            </a:r>
            <a:r>
              <a:rPr lang="en-US" altLang="en-US" sz="1400" dirty="0" err="1"/>
              <a:t>განახლებას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698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403DC-9992-433D-A27A-9E9D1DCED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5580"/>
          </a:xfrm>
        </p:spPr>
        <p:txBody>
          <a:bodyPr>
            <a:normAutofit fontScale="9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manifest.webmanifest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ფაილი</a:t>
            </a:r>
            <a:r>
              <a:rPr lang="en-US" altLang="en-US" sz="2800" dirty="0"/>
              <a:t>:</a:t>
            </a:r>
            <a:endParaRPr kumimoji="0" lang="en-US" altLang="en-US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40FD7-5789-484B-9ACF-AB1D1F7D5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1724" y="961534"/>
            <a:ext cx="7202865" cy="579748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ka-GE" sz="18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FEF68C5F-D5C5-45D1-A117-72DE9B3C6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340" y="3008107"/>
            <a:ext cx="71486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491C01-E851-44ED-B88D-4C4048E95B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7301"/>
            <a:ext cx="4093375" cy="3789223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48BBAA5-7ED6-46CE-AB41-2058FA620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7476" y="799908"/>
            <a:ext cx="8100767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ძირითადი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ინფორმაცია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"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name": "PWA-APP"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აპლიკაციის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სრული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სახელწოდება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რომელიც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გამოჩნდება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ინსტალაციის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ფანჯარაში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"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short_name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": "PWA-APP"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–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აპლიკაციის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მოკლე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სახელი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რომელიც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ჩანს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მთავარ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ეკრანზე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თუ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სივრცე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შეზღუდულია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  <a:endParaRPr kumimoji="0" lang="ka-GE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ვიზუალური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მახასიათებლები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"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theme_color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": "#1976d2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თემატური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ფერი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რომელიც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განსაზღვრავს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აპლიკაციის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ღია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ფერის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ელემენტებს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მაგ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ბრაუზერის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toolbar-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ის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ფერი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"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background_color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": "#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fafafa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"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–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აპლიკაციის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ფონის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ფერი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რომელიც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გამოიყენება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ჩატვირთვისას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ka-GE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ეკრანის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ჩვენების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რეჟიმი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"display": "standalone"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–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აპლიკაცია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იმუშავებს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ნეიტივ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რეჟიმში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ანუ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ბრაუზერის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UI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ელემენტები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(URL bar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და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ღილაკები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არ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გამოჩნდება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ka-GE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იმპლემენტაციის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საზღვრები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"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scope": "./"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–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ვებ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აპლიკაციის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მოქმედების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არეალი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ნიშნავს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რომ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ყველა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ფაილი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რომელიც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იწყება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./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ით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მიეკუთვნება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აპლიკაციას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"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start_url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": "./"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–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აპლიკაციის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გაშვების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URL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რომელიც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ჩაიტვირთება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ინსტალაციის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შემდეგ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ka-GE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აიქონები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"icons": [...]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–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აქ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ჩამოთვლილია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სხვადასხვა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ზომის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აიქონები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რომლებიც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ოპტიმიზებულია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სხვადასხვა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მოწყობილობებისთვის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524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403DC-9992-433D-A27A-9E9D1DCED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5580"/>
          </a:xfrm>
        </p:spPr>
        <p:txBody>
          <a:bodyPr>
            <a:normAutofit fontScale="9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a-GE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აპლიკაციის ტესტირება </a:t>
            </a:r>
            <a:endParaRPr kumimoji="0" lang="en-US" altLang="en-US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40FD7-5789-484B-9ACF-AB1D1F7D5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390" y="895547"/>
            <a:ext cx="11783505" cy="579748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ka-GE" sz="1800" dirty="0"/>
          </a:p>
          <a:p>
            <a:pPr marL="0" indent="0">
              <a:buNone/>
            </a:pPr>
            <a:r>
              <a:rPr lang="ka-GE" sz="1400" dirty="0"/>
              <a:t>ვინაიდან </a:t>
            </a:r>
            <a:r>
              <a:rPr lang="en-US" sz="1400" dirty="0"/>
              <a:t>Service Worker-</a:t>
            </a:r>
            <a:r>
              <a:rPr lang="ka-GE" sz="1400" dirty="0"/>
              <a:t>ები მუშაობენ </a:t>
            </a:r>
            <a:r>
              <a:rPr lang="en-US" sz="1400" dirty="0"/>
              <a:t>HTTPS </a:t>
            </a:r>
            <a:r>
              <a:rPr lang="ka-GE" sz="1400" dirty="0"/>
              <a:t>პროტოკოლზე ან </a:t>
            </a:r>
            <a:r>
              <a:rPr lang="en-US" sz="1400" dirty="0"/>
              <a:t>localhost </a:t>
            </a:r>
            <a:r>
              <a:rPr lang="ka-GE" sz="1400" dirty="0"/>
              <a:t>ზე, იმისთვის რომ </a:t>
            </a:r>
            <a:r>
              <a:rPr lang="en-US" sz="1400" dirty="0"/>
              <a:t>PWA </a:t>
            </a:r>
            <a:r>
              <a:rPr lang="ka-GE" sz="1400" dirty="0"/>
              <a:t>სწორად გამართოთ, საჭიროა  აპლიკაციის აწყობა პროდაქშენ რეჟიმში და ლოკალურ სერვერზე გაშვება :</a:t>
            </a:r>
          </a:p>
          <a:p>
            <a:pPr marL="0" indent="0">
              <a:buNone/>
            </a:pPr>
            <a:br>
              <a:rPr lang="ka-GE" sz="1400" dirty="0"/>
            </a:br>
            <a:r>
              <a:rPr lang="ka-GE" sz="1400" dirty="0"/>
              <a:t>  </a:t>
            </a:r>
            <a:r>
              <a:rPr lang="ka-GE" sz="1400" b="1" dirty="0"/>
              <a:t>ნაბიჯი 1.</a:t>
            </a:r>
            <a:r>
              <a:rPr lang="ka-GE" sz="1400" dirty="0"/>
              <a:t>  ლოკალური სერვერის შესაქმნელად  შეგვიძლია  გამოვიყენოთ  </a:t>
            </a:r>
            <a:r>
              <a:rPr lang="en-US" sz="1400" dirty="0"/>
              <a:t>http-server (</a:t>
            </a:r>
            <a:r>
              <a:rPr lang="ka-GE" sz="1400" dirty="0"/>
              <a:t> </a:t>
            </a:r>
            <a:r>
              <a:rPr lang="ka-GE" sz="1400" dirty="0" err="1"/>
              <a:t>ვაინსტალირებთ</a:t>
            </a:r>
            <a:r>
              <a:rPr lang="ka-GE" sz="1400" dirty="0"/>
              <a:t> </a:t>
            </a:r>
            <a:r>
              <a:rPr lang="en-US" sz="1400" b="1" dirty="0" err="1"/>
              <a:t>npm</a:t>
            </a:r>
            <a:r>
              <a:rPr lang="en-US" sz="1400" b="1" dirty="0"/>
              <a:t> install -g http-server</a:t>
            </a:r>
            <a:r>
              <a:rPr lang="en-US" sz="1400" dirty="0"/>
              <a:t>)</a:t>
            </a:r>
            <a:r>
              <a:rPr lang="ka-GE" sz="1400" dirty="0"/>
              <a:t>;</a:t>
            </a:r>
          </a:p>
          <a:p>
            <a:pPr marL="0" indent="0">
              <a:buNone/>
            </a:pPr>
            <a:r>
              <a:rPr lang="ka-GE" sz="1400" dirty="0"/>
              <a:t>  </a:t>
            </a:r>
            <a:r>
              <a:rPr lang="ka-GE" sz="1400" b="1" dirty="0"/>
              <a:t>ნაბიჯი 2.</a:t>
            </a:r>
            <a:r>
              <a:rPr lang="ka-GE" sz="1400" dirty="0"/>
              <a:t> შევქმნათ პროდაქშენ ბილდი (</a:t>
            </a:r>
            <a:r>
              <a:rPr lang="en-US" sz="1400" b="1" dirty="0"/>
              <a:t>ng build --configuration production</a:t>
            </a:r>
            <a:r>
              <a:rPr lang="ka-GE" sz="1050" dirty="0"/>
              <a:t>) </a:t>
            </a:r>
            <a:r>
              <a:rPr lang="ka-GE" sz="1400" dirty="0"/>
              <a:t>;</a:t>
            </a:r>
          </a:p>
          <a:p>
            <a:pPr marL="0" indent="0">
              <a:buNone/>
            </a:pPr>
            <a:r>
              <a:rPr lang="ka-GE" sz="1400" b="1" dirty="0"/>
              <a:t>  ნაბიჯი 3. </a:t>
            </a:r>
            <a:r>
              <a:rPr lang="ka-GE" sz="1400" dirty="0"/>
              <a:t>გავუშვებთ პროექტის პროდაქშენ ბილდს ლოკალურ სერვერზე შემდეგი ბრძანებით:  </a:t>
            </a:r>
            <a:r>
              <a:rPr lang="en-US" sz="1400" b="1" dirty="0"/>
              <a:t>http-server </a:t>
            </a:r>
            <a:r>
              <a:rPr lang="en-US" sz="1400" b="1" dirty="0" err="1"/>
              <a:t>dist</a:t>
            </a:r>
            <a:r>
              <a:rPr lang="en-US" sz="1400" b="1" dirty="0"/>
              <a:t>/my-</a:t>
            </a:r>
            <a:r>
              <a:rPr lang="en-US" sz="1400" b="1" dirty="0" err="1"/>
              <a:t>pwa</a:t>
            </a:r>
            <a:r>
              <a:rPr lang="en-US" sz="1400" b="1" dirty="0"/>
              <a:t>-app</a:t>
            </a:r>
            <a:r>
              <a:rPr lang="ka-GE" sz="1400" b="1" dirty="0"/>
              <a:t>/</a:t>
            </a:r>
            <a:r>
              <a:rPr lang="en-US" sz="1400" b="1" dirty="0"/>
              <a:t>browser -p 8080</a:t>
            </a:r>
            <a:r>
              <a:rPr lang="ka-GE" sz="1400" b="1" dirty="0"/>
              <a:t> 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  </a:t>
            </a:r>
            <a:r>
              <a:rPr lang="ka-GE" sz="1400" b="1" dirty="0"/>
              <a:t>ნაბიჯი 4. </a:t>
            </a:r>
            <a:r>
              <a:rPr lang="ka-GE" sz="1400" dirty="0"/>
              <a:t>შევამოწმოთ აპლიკაცია ბრაუზერში გავხსნათ ბრაუზერში : </a:t>
            </a:r>
            <a:r>
              <a:rPr lang="en-US" sz="1400" b="1" dirty="0"/>
              <a:t>http://localhost:8080 </a:t>
            </a:r>
            <a:r>
              <a:rPr lang="ka-GE" sz="1400" b="1" dirty="0"/>
              <a:t> და </a:t>
            </a:r>
            <a:r>
              <a:rPr lang="ka-GE" sz="1400" dirty="0"/>
              <a:t>შევამოწმოთ </a:t>
            </a:r>
            <a:r>
              <a:rPr lang="en-US" sz="1400" b="1" dirty="0"/>
              <a:t>inspect-&gt;</a:t>
            </a:r>
            <a:r>
              <a:rPr lang="en-US" sz="1400" b="1" dirty="0" err="1"/>
              <a:t>aplications</a:t>
            </a:r>
            <a:r>
              <a:rPr lang="ka-GE" sz="1400" b="1" dirty="0"/>
              <a:t> </a:t>
            </a:r>
            <a:r>
              <a:rPr lang="ka-GE" sz="1400" dirty="0"/>
              <a:t>სადაც</a:t>
            </a:r>
            <a:r>
              <a:rPr lang="ka-GE" sz="1400" b="1" dirty="0"/>
              <a:t> ‘’</a:t>
            </a:r>
            <a:r>
              <a:rPr lang="en-US" sz="1400" dirty="0"/>
              <a:t>Service Workers" </a:t>
            </a:r>
            <a:r>
              <a:rPr lang="ka-GE" sz="1400" dirty="0"/>
              <a:t>განყოფილებაში უნდა ნახოთ თქვენი </a:t>
            </a:r>
            <a:r>
              <a:rPr lang="en-US" sz="1400" dirty="0"/>
              <a:t>Service Worker </a:t>
            </a:r>
            <a:r>
              <a:rPr lang="ka-GE" sz="1400" dirty="0"/>
              <a:t>დარეგისტრირებული და გაშვებული. ხოლო </a:t>
            </a:r>
            <a:r>
              <a:rPr lang="en-US" sz="1400" dirty="0"/>
              <a:t>"Manifest" </a:t>
            </a:r>
            <a:r>
              <a:rPr lang="ka-GE" sz="1400" dirty="0"/>
              <a:t>განყოფილებაში ნახავთ თქვენი </a:t>
            </a:r>
            <a:r>
              <a:rPr lang="en-US" sz="1400" dirty="0" err="1"/>
              <a:t>manifest.webmanifest</a:t>
            </a:r>
            <a:r>
              <a:rPr lang="en-US" sz="1400" dirty="0"/>
              <a:t>-</a:t>
            </a:r>
            <a:r>
              <a:rPr lang="ka-GE" sz="1400" dirty="0"/>
              <a:t>ის დეტალებს. </a:t>
            </a:r>
            <a:br>
              <a:rPr lang="ka-GE" sz="1400" dirty="0"/>
            </a:br>
            <a:r>
              <a:rPr lang="ka-GE" sz="1400" dirty="0"/>
              <a:t>შეგვიძლია  გამოიყენოთ "</a:t>
            </a:r>
            <a:r>
              <a:rPr lang="en-US" sz="1400" dirty="0"/>
              <a:t>Offline" </a:t>
            </a:r>
            <a:r>
              <a:rPr lang="ka-GE" sz="1400" dirty="0"/>
              <a:t>ჩამრთველი </a:t>
            </a:r>
            <a:r>
              <a:rPr lang="en-US" sz="1400" dirty="0"/>
              <a:t>Service Worker-</a:t>
            </a:r>
            <a:r>
              <a:rPr lang="ka-GE" sz="1400" dirty="0"/>
              <a:t>ის შესამოწმებლად </a:t>
            </a:r>
            <a:r>
              <a:rPr lang="ka-GE" sz="1400" dirty="0" err="1"/>
              <a:t>ოფლაინ</a:t>
            </a:r>
            <a:r>
              <a:rPr lang="ka-GE" sz="1400" dirty="0"/>
              <a:t> რეჟიმში.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FEF68C5F-D5C5-45D1-A117-72DE9B3C6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340" y="3008107"/>
            <a:ext cx="71486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743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403DC-9992-433D-A27A-9E9D1DCED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5580"/>
          </a:xfrm>
        </p:spPr>
        <p:txBody>
          <a:bodyPr>
            <a:normAutofit fontScale="9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600" b="1" dirty="0"/>
              <a:t>Progressive Web App (PWA) </a:t>
            </a:r>
            <a:r>
              <a:rPr lang="ka-GE" sz="3600" b="1" dirty="0"/>
              <a:t> ნაწილი </a:t>
            </a:r>
            <a:r>
              <a:rPr lang="en-US" sz="3600" b="1" dirty="0"/>
              <a:t>II – Push notification </a:t>
            </a:r>
            <a:endParaRPr kumimoji="0" lang="en-US" altLang="en-US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40FD7-5789-484B-9ACF-AB1D1F7D5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390" y="895547"/>
            <a:ext cx="11783505" cy="579748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ka-GE" sz="1800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FEF68C5F-D5C5-45D1-A117-72DE9B3C6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340" y="3008107"/>
            <a:ext cx="71486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722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1556</TotalTime>
  <Words>955</Words>
  <Application>Microsoft Office PowerPoint</Application>
  <PresentationFormat>Widescreen</PresentationFormat>
  <Paragraphs>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 Unicode MS</vt:lpstr>
      <vt:lpstr>Arial</vt:lpstr>
      <vt:lpstr>Calibri</vt:lpstr>
      <vt:lpstr>Calibri Light</vt:lpstr>
      <vt:lpstr>Sylfaen</vt:lpstr>
      <vt:lpstr>Office Theme</vt:lpstr>
      <vt:lpstr>Progressive Web App (PWA) </vt:lpstr>
      <vt:lpstr>რა არის PWA?</vt:lpstr>
      <vt:lpstr>რატომ გვჭირდება PWA?</vt:lpstr>
      <vt:lpstr>PWA-ის ძირითადი მახასიათებლები:</vt:lpstr>
      <vt:lpstr>Angular-ისა და PWA-ის ერთობლიობა</vt:lpstr>
      <vt:lpstr>გადავაქციოთ Angular აპლიკაცია PWA-ად:</vt:lpstr>
      <vt:lpstr>ngsw-config.json ფაილი:</vt:lpstr>
      <vt:lpstr>manifest.webmanifest ფაილი:</vt:lpstr>
      <vt:lpstr>აპლიკაციის ტესტირება </vt:lpstr>
      <vt:lpstr>Progressive Web App (PWA)  ნაწილი II – Push notification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Progressive Web App (PWA) </dc:title>
  <dc:creator>Beka Ekseulidze</dc:creator>
  <cp:lastModifiedBy>Beka Ekseulidze</cp:lastModifiedBy>
  <cp:revision>23</cp:revision>
  <dcterms:created xsi:type="dcterms:W3CDTF">2025-05-27T05:36:46Z</dcterms:created>
  <dcterms:modified xsi:type="dcterms:W3CDTF">2025-05-28T07:34:07Z</dcterms:modified>
</cp:coreProperties>
</file>